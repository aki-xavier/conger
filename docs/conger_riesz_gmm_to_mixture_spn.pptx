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1831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F766E"/>
                </a:solidFill>
                <a:latin typeface="Noto Sans CJK SC"/>
                <a:ea typeface="Noto Sans CJK SC"/>
                <a:cs typeface="Noto Sans CJK SC"/>
              </a:rPr>
              <a:t>研究路线复盘 · 第一人称 · 2026-08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10607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我是如何从 Riesz-GMM 显式建模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切换到实例级 MixtureSPN 逆渲染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977639"/>
            <a:ext cx="2011680" cy="10972"/>
          </a:xfrm>
          <a:prstGeom prst="rect">
            <a:avLst/>
          </a:prstGeom>
          <a:solidFill>
            <a:srgbClr val="0F766E"/>
          </a:solidFill>
          <a:ln w="254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2062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一次由实测否决驱动的转向复盘: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模块显式 → 生成过程显式 + 后验学习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206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左右立体图  →  Riesz 全分辨率特征  →  完整 cga.Scene(含光照)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55664"/>
            <a:ext cx="11277295" cy="10972"/>
          </a:xfrm>
          <a:prstGeom prst="rect">
            <a:avLst/>
          </a:prstGeom>
          <a:solidFill>
            <a:srgbClr val="DCE0E6"/>
          </a:solidFill>
          <a:ln w="12700"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8ed8356 (07-24) · aaa43e0 (07-27) · 97c33d6 (08-11) · 523b97a / 54cd2d1 (08-13)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28816"/>
            <a:ext cx="139903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28016" cy="74980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47472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F766E"/>
                </a:solidFill>
                <a:latin typeface="Noto Sans CJK SC"/>
                <a:ea typeface="Noto Sans CJK SC"/>
                <a:cs typeface="Noto Sans CJK SC"/>
              </a:rPr>
              <a:t>研究定位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03504"/>
            <a:ext cx="10789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一句话总览: 我把显式从模块移到生成过程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61872"/>
            <a:ext cx="11247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docs/architecture.md §0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94960" cy="265176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旧: 我把显式放在模块里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40280"/>
            <a:ext cx="49834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逐模块闭式代数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手工先验 / 门控 / 参数 β·T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无训练数据 · 无梯度优化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D64550"/>
                </a:solidFill>
                <a:latin typeface="Noto Sans CJK SC"/>
                <a:ea typeface="Noto Sans CJK SC"/>
                <a:cs typeface="Noto Sans CJK SC"/>
              </a:rPr>
              <a:t>软隶属度 Q 不流入深度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35040" y="2743200"/>
            <a:ext cx="731520" cy="365760"/>
          </a:xfrm>
          <a:prstGeom prst="rightArrow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0" y="1600200"/>
            <a:ext cx="4937760" cy="2651760"/>
          </a:xfrm>
          <a:prstGeom prst="roundRect">
            <a:avLst>
              <a:gd name="adj" fmla="val 6000"/>
            </a:avLst>
          </a:prstGeom>
          <a:solidFill>
            <a:srgbClr val="D6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178308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新: 我把显式放在生成过程里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2240280"/>
            <a:ext cx="4526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单一生成过程: Codebook → render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统计规律交给实例级后验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硬约束进支持集 · 歧义进候选后验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0F766E"/>
                </a:solidFill>
                <a:latin typeface="Noto Sans CJK SC"/>
                <a:ea typeface="Noto Sans CJK SC"/>
                <a:cs typeface="Noto Sans CJK SC"/>
              </a:rPr>
              <a:t>实测驱动 · 诚实否决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72000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我的路线时间轴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992624"/>
            <a:ext cx="11064240" cy="10972"/>
          </a:xfrm>
          <a:prstGeom prst="rect">
            <a:avLst/>
          </a:prstGeom>
          <a:solidFill>
            <a:srgbClr val="DCE0E6"/>
          </a:solidFill>
          <a:ln w="25400"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6656" y="4937760"/>
            <a:ext cx="146304" cy="146304"/>
          </a:xfrm>
          <a:prstGeom prst="ellipse">
            <a:avLst/>
          </a:prstGeom>
          <a:solidFill>
            <a:srgbClr val="1831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17550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显式建模期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431536"/>
            <a:ext cx="3108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07-24 → 08-05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669280"/>
            <a:ext cx="3108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8ed8356 · 3a344b4 · cbc9fa8 · 43416c8</a:t>
            </a:r>
          </a:p>
        </p:txBody>
      </p:sp>
      <p:sp>
        <p:nvSpPr>
          <p:cNvPr id="19" name="Oval 18"/>
          <p:cNvSpPr/>
          <p:nvPr/>
        </p:nvSpPr>
        <p:spPr>
          <a:xfrm>
            <a:off x="4425696" y="4937760"/>
            <a:ext cx="146304" cy="146304"/>
          </a:xfrm>
          <a:prstGeom prst="ellipse">
            <a:avLst/>
          </a:prstGeom>
          <a:solidFill>
            <a:srgbClr val="C78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40" y="517550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78A22"/>
                </a:solidFill>
                <a:latin typeface="Noto Sans CJK SC"/>
                <a:ea typeface="Noto Sans CJK SC"/>
                <a:cs typeface="Noto Sans CJK SC"/>
              </a:rPr>
              <a:t>SPN 分支验证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5431536"/>
            <a:ext cx="3108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08-11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5669280"/>
            <a:ext cx="3108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285763a · 97c33d6</a:t>
            </a:r>
          </a:p>
        </p:txBody>
      </p:sp>
      <p:sp>
        <p:nvSpPr>
          <p:cNvPr id="23" name="Oval 22"/>
          <p:cNvSpPr/>
          <p:nvPr/>
        </p:nvSpPr>
        <p:spPr>
          <a:xfrm>
            <a:off x="7626096" y="4937760"/>
            <a:ext cx="146304" cy="14630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0" y="517550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F766E"/>
                </a:solidFill>
                <a:latin typeface="Noto Sans CJK SC"/>
                <a:ea typeface="Noto Sans CJK SC"/>
                <a:cs typeface="Noto Sans CJK SC"/>
              </a:rPr>
              <a:t>实例级主线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5431536"/>
            <a:ext cx="3108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08-13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5669280"/>
            <a:ext cx="3108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523b97a · 54cd2d1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455664"/>
            <a:ext cx="11277295" cy="10972"/>
          </a:xfrm>
          <a:prstGeom prst="rect">
            <a:avLst/>
          </a:prstGeom>
          <a:solidFill>
            <a:srgbClr val="DCE0E6"/>
          </a:solidFill>
          <a:ln w="12700"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528816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docs/architecture.md §0 · git log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6528816"/>
            <a:ext cx="139903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28016" cy="74980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47472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F766E"/>
                </a:solidFill>
                <a:latin typeface="Noto Sans CJK SC"/>
                <a:ea typeface="Noto Sans CJK SC"/>
                <a:cs typeface="Noto Sans CJK SC"/>
              </a:rPr>
              <a:t>问题定义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03504"/>
            <a:ext cx="10789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我要解的逆渲染问题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61872"/>
            <a:ext cx="11247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docs/prior.md · docs/architecture.md §1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3108960" cy="1371600"/>
          </a:xfrm>
          <a:prstGeom prst="roundRect">
            <a:avLst>
              <a:gd name="adj" fmla="val 14000"/>
            </a:avLst>
          </a:prstGeom>
          <a:solidFill>
            <a:srgbClr val="DDE6F0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1" y="1783080"/>
            <a:ext cx="2962656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输入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左右两张 144×144 立体图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794760" y="2240280"/>
            <a:ext cx="640080" cy="365760"/>
          </a:xfrm>
          <a:prstGeom prst="rightArrow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80560" y="1737360"/>
            <a:ext cx="3291840" cy="1371600"/>
          </a:xfrm>
          <a:prstGeom prst="roundRect">
            <a:avLst>
              <a:gd name="adj" fmla="val 14000"/>
            </a:avLst>
          </a:prstGeom>
          <a:solidFill>
            <a:srgbClr val="F6DDDF"/>
          </a:solidFill>
          <a:ln w="12700">
            <a:solidFill>
              <a:srgbClr val="D6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783080"/>
            <a:ext cx="3145536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?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不适定: 无穷多场景同图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818120" y="2240280"/>
            <a:ext cx="640080" cy="365760"/>
          </a:xfrm>
          <a:prstGeom prst="rightArrow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503920" y="1737360"/>
            <a:ext cx="3108960" cy="1371600"/>
          </a:xfrm>
          <a:prstGeom prst="roundRect">
            <a:avLst>
              <a:gd name="adj" fmla="val 14000"/>
            </a:avLst>
          </a:prstGeom>
          <a:solidFill>
            <a:srgbClr val="D6EBE9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77072" y="1783080"/>
            <a:ext cx="2962656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输出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完整 cga.Scene(含光照)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429000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输出自由度 × 8(单图元)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67328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1831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767328"/>
            <a:ext cx="1325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kind 图元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93976" y="3767328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1831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93976" y="3767328"/>
            <a:ext cx="1325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u 位置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47872" y="3767328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1831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47872" y="3767328"/>
            <a:ext cx="1325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v 位置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01768" y="3767328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1831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1768" y="3767328"/>
            <a:ext cx="1325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s 尺寸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55664" y="3767328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1831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55664" y="3767328"/>
            <a:ext cx="1325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z 深度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9560" y="3767328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1831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09560" y="3767328"/>
            <a:ext cx="1325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hue 色相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63456" y="3767328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1831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63456" y="3767328"/>
            <a:ext cx="1325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lcol 光色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817352" y="3767328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1831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817352" y="3767328"/>
            <a:ext cx="1325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ldir 光向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526280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不适定 → 需要强先验(Helmholtz 无意识推理)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864608"/>
            <a:ext cx="10972800" cy="137160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0292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我把先验分四层落地:  </a:t>
            </a:r>
            <a:r>
              <a:rPr sz="1350" b="0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场景族硬先验 · 经验统计先验(实例记忆/均匀权重/tied方差) · 算法结构先验 · 推理似然先验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设计原则: 硬物理约束进支持集, 统计规律进概率/核带宽, 不适定歧义进候选后验, 不做过早 argmax。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455664"/>
            <a:ext cx="11277295" cy="10972"/>
          </a:xfrm>
          <a:prstGeom prst="rect">
            <a:avLst/>
          </a:prstGeom>
          <a:solidFill>
            <a:srgbClr val="DCE0E6"/>
          </a:solidFill>
          <a:ln w="12700"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528816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docs/prior.md · docs/architecture.md §1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32720" y="6528816"/>
            <a:ext cx="139903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28016" cy="74980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47472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F766E"/>
                </a:solidFill>
                <a:latin typeface="Noto Sans CJK SC"/>
                <a:ea typeface="Noto Sans CJK SC"/>
                <a:cs typeface="Noto Sans CJK SC"/>
              </a:rPr>
              <a:t>架构总图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03504"/>
            <a:ext cx="10789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我现在的架构总图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61872"/>
            <a:ext cx="11247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docs/architecture.md §1 · 模块结构 §5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2670048" cy="1143000"/>
          </a:xfrm>
          <a:prstGeom prst="roundRect">
            <a:avLst>
              <a:gd name="adj" fmla="val 14000"/>
            </a:avLst>
          </a:prstGeom>
          <a:solidFill>
            <a:srgbClr val="DDE6F0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737360"/>
            <a:ext cx="2523744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左右立体图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144×144 ×2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191256" y="2103120"/>
            <a:ext cx="219456" cy="274320"/>
          </a:xfrm>
          <a:prstGeom prst="rightArrow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29000" y="1691640"/>
            <a:ext cx="2670048" cy="1143000"/>
          </a:xfrm>
          <a:prstGeom prst="roundRect">
            <a:avLst>
              <a:gd name="adj" fmla="val 14000"/>
            </a:avLst>
          </a:prstGeom>
          <a:solidFill>
            <a:srgbClr val="DDE6F0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02152" y="1737360"/>
            <a:ext cx="2523744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Riesz 特征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11 通道 · V≈228K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117336" y="2103120"/>
            <a:ext cx="219456" cy="274320"/>
          </a:xfrm>
          <a:prstGeom prst="rightArrow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55080" y="1691640"/>
            <a:ext cx="2670048" cy="1143000"/>
          </a:xfrm>
          <a:prstGeom prst="roundRect">
            <a:avLst>
              <a:gd name="adj" fmla="val 14000"/>
            </a:avLst>
          </a:prstGeom>
          <a:solidFill>
            <a:srgbClr val="DDE6F0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1737360"/>
            <a:ext cx="2523744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PCA 白化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Gram eigh · D≤N−1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043416" y="2103120"/>
            <a:ext cx="219456" cy="274320"/>
          </a:xfrm>
          <a:prstGeom prst="rightArrow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281160" y="1691640"/>
            <a:ext cx="2670048" cy="1143000"/>
          </a:xfrm>
          <a:prstGeom prst="roundRect">
            <a:avLst>
              <a:gd name="adj" fmla="val 14000"/>
            </a:avLst>
          </a:prstGeom>
          <a:solidFill>
            <a:srgbClr val="DDE6F0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54312" y="1737360"/>
            <a:ext cx="2523744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MixtureSPN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逐 kind · K=N · 无 EM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806440" y="2852928"/>
            <a:ext cx="274320" cy="365760"/>
          </a:xfrm>
          <a:prstGeom prst="downArrow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3429000"/>
            <a:ext cx="2670048" cy="1143000"/>
          </a:xfrm>
          <a:prstGeom prst="roundRect">
            <a:avLst>
              <a:gd name="adj" fmla="val 14000"/>
            </a:avLst>
          </a:prstGeom>
          <a:solidFill>
            <a:srgbClr val="DDE6F0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3474720"/>
            <a:ext cx="2523744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条件期望/后验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连续=核回归 · 离散=后验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191256" y="3840480"/>
            <a:ext cx="219456" cy="274320"/>
          </a:xfrm>
          <a:prstGeom prst="rightArrow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29000" y="3429000"/>
            <a:ext cx="2670048" cy="1143000"/>
          </a:xfrm>
          <a:prstGeom prst="roundRect">
            <a:avLst>
              <a:gd name="adj" fmla="val 14000"/>
            </a:avLst>
          </a:prstGeom>
          <a:solidFill>
            <a:srgbClr val="D6EBE9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02152" y="3474720"/>
            <a:ext cx="2523744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渲染残差精炼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top-k kind × 54 外观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117336" y="3840480"/>
            <a:ext cx="219456" cy="274320"/>
          </a:xfrm>
          <a:prstGeom prst="rightArrow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55080" y="3429000"/>
            <a:ext cx="2670048" cy="1143000"/>
          </a:xfrm>
          <a:prstGeom prst="roundRect">
            <a:avLst>
              <a:gd name="adj" fmla="val 14000"/>
            </a:avLst>
          </a:prstGeom>
          <a:solidFill>
            <a:srgbClr val="D6EBE9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28232" y="3474720"/>
            <a:ext cx="2523744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StructuredHypothesis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MAP + 候选 + 联合后验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043416" y="3840480"/>
            <a:ext cx="219456" cy="274320"/>
          </a:xfrm>
          <a:prstGeom prst="rightArrow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281160" y="3429000"/>
            <a:ext cx="2670048" cy="1143000"/>
          </a:xfrm>
          <a:prstGeom prst="roundRect">
            <a:avLst>
              <a:gd name="adj" fmla="val 14000"/>
            </a:avLst>
          </a:prstGeom>
          <a:solidFill>
            <a:srgbClr val="D6EBE9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54312" y="3474720"/>
            <a:ext cx="2523744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cga.Scene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完整重建(含光照)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93776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要点:  </a:t>
            </a:r>
            <a:r>
              <a:rPr sz="1400" b="0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单一生成过程(Codebook → cga 渲染)取代逐模块手工先验; 白化使对角高斯 ≡ 原空间全协方差; 实例级组件 = 每个训练样本一个分量, 无 EM/无质心压缩。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渲染残差精炼把反照率×光照歧义交回正向模型 —— 这是外观辨识的主要来源。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6455664"/>
            <a:ext cx="11277295" cy="10972"/>
          </a:xfrm>
          <a:prstGeom prst="rect">
            <a:avLst/>
          </a:prstGeom>
          <a:solidFill>
            <a:srgbClr val="DCE0E6"/>
          </a:solidFill>
          <a:ln w="12700"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528816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docs/architecture.md §1 · §5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720" y="6528816"/>
            <a:ext cx="139903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28016" cy="74980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47472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F766E"/>
                </a:solidFill>
                <a:latin typeface="Noto Sans CJK SC"/>
                <a:ea typeface="Noto Sans CJK SC"/>
                <a:cs typeface="Noto Sans CJK SC"/>
              </a:rPr>
              <a:t>旧路线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03504"/>
            <a:ext cx="10789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旧路线: 我当初显式建模了什么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61872"/>
            <a:ext cx="11247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aaa43e0 (Gabor-GMM) · 3a344b4 (Riesz 引入)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1481328" cy="868680"/>
          </a:xfrm>
          <a:prstGeom prst="roundRect">
            <a:avLst>
              <a:gd name="adj" fmla="val 14000"/>
            </a:avLst>
          </a:prstGeom>
          <a:solidFill>
            <a:srgbClr val="F4F5F7"/>
          </a:solidFill>
          <a:ln w="12700"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7784" y="1691640"/>
            <a:ext cx="1371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知觉组织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993391" y="1920240"/>
            <a:ext cx="146304" cy="256032"/>
          </a:xfrm>
          <a:prstGeom prst="rightArrow">
            <a:avLst/>
          </a:prstGeom>
          <a:solidFill>
            <a:srgbClr val="697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153412" y="1691640"/>
            <a:ext cx="1481328" cy="868680"/>
          </a:xfrm>
          <a:prstGeom prst="roundRect">
            <a:avLst>
              <a:gd name="adj" fmla="val 14000"/>
            </a:avLst>
          </a:prstGeom>
          <a:solidFill>
            <a:srgbClr val="F4F5F7"/>
          </a:solidFill>
          <a:ln w="12700"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08276" y="1691640"/>
            <a:ext cx="1371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场景分割 / BN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643884" y="1920240"/>
            <a:ext cx="146304" cy="256032"/>
          </a:xfrm>
          <a:prstGeom prst="rightArrow">
            <a:avLst/>
          </a:prstGeom>
          <a:solidFill>
            <a:srgbClr val="697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803904" y="1691640"/>
            <a:ext cx="1481328" cy="868680"/>
          </a:xfrm>
          <a:prstGeom prst="roundRect">
            <a:avLst>
              <a:gd name="adj" fmla="val 14000"/>
            </a:avLst>
          </a:prstGeom>
          <a:solidFill>
            <a:srgbClr val="F4F5F7"/>
          </a:solidFill>
          <a:ln w="12700"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58768" y="1691640"/>
            <a:ext cx="1371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单目深度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294376" y="1920240"/>
            <a:ext cx="146304" cy="256032"/>
          </a:xfrm>
          <a:prstGeom prst="rightArrow">
            <a:avLst/>
          </a:prstGeom>
          <a:solidFill>
            <a:srgbClr val="697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54396" y="1691640"/>
            <a:ext cx="1481328" cy="868680"/>
          </a:xfrm>
          <a:prstGeom prst="roundRect">
            <a:avLst>
              <a:gd name="adj" fmla="val 14000"/>
            </a:avLst>
          </a:prstGeom>
          <a:solidFill>
            <a:srgbClr val="F4F5F7"/>
          </a:solidFill>
          <a:ln w="12700"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09259" y="1691640"/>
            <a:ext cx="1371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双目视差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944868" y="1920240"/>
            <a:ext cx="146304" cy="256032"/>
          </a:xfrm>
          <a:prstGeom prst="rightArrow">
            <a:avLst/>
          </a:prstGeom>
          <a:solidFill>
            <a:srgbClr val="697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04888" y="1691640"/>
            <a:ext cx="1481328" cy="868680"/>
          </a:xfrm>
          <a:prstGeom prst="roundRect">
            <a:avLst>
              <a:gd name="adj" fmla="val 14000"/>
            </a:avLst>
          </a:prstGeom>
          <a:solidFill>
            <a:srgbClr val="F4F5F7"/>
          </a:solidFill>
          <a:ln w="12700"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59751" y="1691640"/>
            <a:ext cx="1371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深度融合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595360" y="1920240"/>
            <a:ext cx="146304" cy="256032"/>
          </a:xfrm>
          <a:prstGeom prst="rightArrow">
            <a:avLst/>
          </a:prstGeom>
          <a:solidFill>
            <a:srgbClr val="697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755380" y="1691640"/>
            <a:ext cx="1481328" cy="868680"/>
          </a:xfrm>
          <a:prstGeom prst="roundRect">
            <a:avLst>
              <a:gd name="adj" fmla="val 14000"/>
            </a:avLst>
          </a:prstGeom>
          <a:solidFill>
            <a:srgbClr val="F4F5F7"/>
          </a:solidFill>
          <a:ln w="12700"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10244" y="1691640"/>
            <a:ext cx="1371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Motor-EKF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10245852" y="1920240"/>
            <a:ext cx="146304" cy="256032"/>
          </a:xfrm>
          <a:prstGeom prst="rightArrow">
            <a:avLst/>
          </a:prstGeom>
          <a:solidFill>
            <a:srgbClr val="697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405872" y="1691640"/>
            <a:ext cx="1481328" cy="868680"/>
          </a:xfrm>
          <a:prstGeom prst="roundRect">
            <a:avLst>
              <a:gd name="adj" fmla="val 14000"/>
            </a:avLst>
          </a:prstGeom>
          <a:solidFill>
            <a:srgbClr val="F4F5F7"/>
          </a:solidFill>
          <a:ln w="12700"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60736" y="1691640"/>
            <a:ext cx="1371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CGA 重建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2880360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两阶段显式管线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29184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① 07-27 (aaa43e0): </a:t>
            </a:r>
            <a:r>
              <a:rPr sz="1500" b="0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Gabor-GMM 软聚类 (DGGG / DG-MRF)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② 08-02 (3a344b4): </a:t>
            </a:r>
            <a:r>
              <a:rPr sz="1500" b="0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Riesz 替代 Gabor → Riesz + VB-GMM + CGA 显式管线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0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逐模块闭式、手工先验/门控、参数 β·T; 无训练数据、无梯度优化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43484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旧路线关键提交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846320"/>
            <a:ext cx="10972800" cy="10972"/>
          </a:xfrm>
          <a:prstGeom prst="rect">
            <a:avLst/>
          </a:prstGeom>
          <a:solidFill>
            <a:srgbClr val="DCE0E6"/>
          </a:solidFill>
          <a:ln w="25400"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5800" y="4800600"/>
            <a:ext cx="109728" cy="109728"/>
          </a:xfrm>
          <a:prstGeom prst="ellipse">
            <a:avLst/>
          </a:prstGeom>
          <a:solidFill>
            <a:srgbClr val="1831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79" y="4965192"/>
            <a:ext cx="1737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8ed8356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79" y="5202936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07-24 初始</a:t>
            </a:r>
          </a:p>
        </p:txBody>
      </p:sp>
      <p:sp>
        <p:nvSpPr>
          <p:cNvPr id="33" name="Oval 32"/>
          <p:cNvSpPr/>
          <p:nvPr/>
        </p:nvSpPr>
        <p:spPr>
          <a:xfrm>
            <a:off x="2697479" y="4800600"/>
            <a:ext cx="109728" cy="109728"/>
          </a:xfrm>
          <a:prstGeom prst="ellipse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23160" y="4965192"/>
            <a:ext cx="1737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D64550"/>
                </a:solidFill>
                <a:latin typeface="Noto Sans CJK SC"/>
                <a:ea typeface="Noto Sans CJK SC"/>
                <a:cs typeface="Noto Sans CJK SC"/>
              </a:rPr>
              <a:t>aaa43e0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23160" y="5202936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07-27 废弃报告(Gabor-GMM/DG-MRF)</a:t>
            </a:r>
          </a:p>
        </p:txBody>
      </p:sp>
      <p:sp>
        <p:nvSpPr>
          <p:cNvPr id="36" name="Oval 35"/>
          <p:cNvSpPr/>
          <p:nvPr/>
        </p:nvSpPr>
        <p:spPr>
          <a:xfrm>
            <a:off x="4800600" y="4800600"/>
            <a:ext cx="109728" cy="109728"/>
          </a:xfrm>
          <a:prstGeom prst="ellipse">
            <a:avLst/>
          </a:prstGeom>
          <a:solidFill>
            <a:srgbClr val="1831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26280" y="4965192"/>
            <a:ext cx="1737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b52ac7a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26280" y="5202936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07-31 CGA implementation</a:t>
            </a:r>
          </a:p>
        </p:txBody>
      </p:sp>
      <p:sp>
        <p:nvSpPr>
          <p:cNvPr id="39" name="Oval 38"/>
          <p:cNvSpPr/>
          <p:nvPr/>
        </p:nvSpPr>
        <p:spPr>
          <a:xfrm>
            <a:off x="6720840" y="4800600"/>
            <a:ext cx="109728" cy="109728"/>
          </a:xfrm>
          <a:prstGeom prst="ellipse">
            <a:avLst/>
          </a:prstGeom>
          <a:solidFill>
            <a:srgbClr val="1831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6520" y="4965192"/>
            <a:ext cx="1737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3a344b4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5202936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08-02 Riesz 引入</a:t>
            </a:r>
          </a:p>
        </p:txBody>
      </p:sp>
      <p:sp>
        <p:nvSpPr>
          <p:cNvPr id="42" name="Oval 41"/>
          <p:cNvSpPr/>
          <p:nvPr/>
        </p:nvSpPr>
        <p:spPr>
          <a:xfrm>
            <a:off x="8641080" y="4800600"/>
            <a:ext cx="109728" cy="109728"/>
          </a:xfrm>
          <a:prstGeom prst="ellipse">
            <a:avLst/>
          </a:prstGeom>
          <a:solidFill>
            <a:srgbClr val="1831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66760" y="4965192"/>
            <a:ext cx="1737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cbc9fa8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66760" y="5202936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08-04 remove gmm.py</a:t>
            </a:r>
          </a:p>
        </p:txBody>
      </p:sp>
      <p:sp>
        <p:nvSpPr>
          <p:cNvPr id="45" name="Oval 44"/>
          <p:cNvSpPr/>
          <p:nvPr/>
        </p:nvSpPr>
        <p:spPr>
          <a:xfrm>
            <a:off x="10469880" y="4800600"/>
            <a:ext cx="109728" cy="109728"/>
          </a:xfrm>
          <a:prstGeom prst="ellipse">
            <a:avLst/>
          </a:prstGeom>
          <a:solidFill>
            <a:srgbClr val="1831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95560" y="4965192"/>
            <a:ext cx="1737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43416c8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95560" y="5202936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08-05 flow/params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6455664"/>
            <a:ext cx="11277295" cy="10972"/>
          </a:xfrm>
          <a:prstGeom prst="rect">
            <a:avLst/>
          </a:prstGeom>
          <a:solidFill>
            <a:srgbClr val="DCE0E6"/>
          </a:solidFill>
          <a:ln w="12700"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6528816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aaa43e0 (Gabor) · 3a344b4 (Riesz) · cbc9fa8 · 43416c8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32720" y="6528816"/>
            <a:ext cx="139903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28016" cy="74980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47472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F766E"/>
                </a:solidFill>
                <a:latin typeface="Noto Sans CJK SC"/>
                <a:ea typeface="Noto Sans CJK SC"/>
                <a:cs typeface="Noto Sans CJK SC"/>
              </a:rPr>
              <a:t>旧路线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03504"/>
            <a:ext cx="10789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我先保留了什么（跨阶段合成）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61872"/>
            <a:ext cx="11247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aaa43e0 (Gabor) + 3a344b4 (Riesz) + current docs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C78A22"/>
                </a:solidFill>
                <a:latin typeface="Noto Sans CJK SC"/>
                <a:ea typeface="Noto Sans CJK SC"/>
                <a:cs typeface="Noto Sans CJK SC"/>
              </a:rPr>
              <a:t>07-27 报告明确保留（Gabor-GMM 时代）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3520440" cy="896112"/>
          </a:xfrm>
          <a:prstGeom prst="roundRect">
            <a:avLst>
              <a:gd name="adj" fmla="val 16000"/>
            </a:avLst>
          </a:prstGeom>
          <a:solidFill>
            <a:srgbClr val="F3E7D2"/>
          </a:solidFill>
          <a:ln w="12700">
            <a:solidFill>
              <a:srgbClr val="C78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56231"/>
            <a:ext cx="3246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Pb 半盘检测器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85416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跨候选边界纹理分布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783080"/>
            <a:ext cx="3520440" cy="896112"/>
          </a:xfrm>
          <a:prstGeom prst="roundRect">
            <a:avLst>
              <a:gd name="adj" fmla="val 16000"/>
            </a:avLst>
          </a:prstGeom>
          <a:solidFill>
            <a:srgbClr val="F3E7D2"/>
          </a:solidFill>
          <a:ln w="12700">
            <a:solidFill>
              <a:srgbClr val="C78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856231"/>
            <a:ext cx="3246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增益控制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185416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除法归一化, 光照不变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783080"/>
            <a:ext cx="3520440" cy="896112"/>
          </a:xfrm>
          <a:prstGeom prst="roundRect">
            <a:avLst>
              <a:gd name="adj" fmla="val 16000"/>
            </a:avLst>
          </a:prstGeom>
          <a:solidFill>
            <a:srgbClr val="F3E7D2"/>
          </a:solidFill>
          <a:ln w="12700">
            <a:solidFill>
              <a:srgbClr val="C78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856231"/>
            <a:ext cx="3246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2θ 圆统计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185416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方向用圆分布而非高斯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862072"/>
            <a:ext cx="3520440" cy="896112"/>
          </a:xfrm>
          <a:prstGeom prst="roundRect">
            <a:avLst>
              <a:gd name="adj" fmla="val 16000"/>
            </a:avLst>
          </a:prstGeom>
          <a:solidFill>
            <a:srgbClr val="F3E7D2"/>
          </a:solidFill>
          <a:ln w="12700">
            <a:solidFill>
              <a:srgbClr val="C78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935224"/>
            <a:ext cx="3246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复数色相 S·e^{iH}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264408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等亮度色度编码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2862072"/>
            <a:ext cx="3520440" cy="896112"/>
          </a:xfrm>
          <a:prstGeom prst="roundRect">
            <a:avLst>
              <a:gd name="adj" fmla="val 16000"/>
            </a:avLst>
          </a:prstGeom>
          <a:solidFill>
            <a:srgbClr val="F3E7D2"/>
          </a:solidFill>
          <a:ln w="12700">
            <a:solidFill>
              <a:srgbClr val="C78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2935224"/>
            <a:ext cx="3246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合成信号测试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264408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9 信号标准测试集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2862072"/>
            <a:ext cx="3520440" cy="896112"/>
          </a:xfrm>
          <a:prstGeom prst="roundRect">
            <a:avLst>
              <a:gd name="adj" fmla="val 16000"/>
            </a:avLst>
          </a:prstGeom>
          <a:solidFill>
            <a:srgbClr val="F3E7D2"/>
          </a:solidFill>
          <a:ln w="12700">
            <a:solidFill>
              <a:srgbClr val="C78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2935224"/>
            <a:ext cx="3246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聚类初始化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264408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EM 起点继承到后续方案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114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F766E"/>
                </a:solidFill>
                <a:latin typeface="Noto Sans CJK SC"/>
                <a:ea typeface="Noto Sans CJK SC"/>
                <a:cs typeface="Noto Sans CJK SC"/>
              </a:rPr>
              <a:t>后续证明继续有效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434840"/>
            <a:ext cx="3520440" cy="896112"/>
          </a:xfrm>
          <a:prstGeom prst="roundRect">
            <a:avLst>
              <a:gd name="adj" fmla="val 16000"/>
            </a:avLst>
          </a:prstGeom>
          <a:solidFill>
            <a:srgbClr val="D6EBE9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507992"/>
            <a:ext cx="3246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Riesz 前端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837176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08-02 3a344b4 引入, 替代 Gabor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34840" y="4434840"/>
            <a:ext cx="3520440" cy="896112"/>
          </a:xfrm>
          <a:prstGeom prst="roundRect">
            <a:avLst>
              <a:gd name="adj" fmla="val 16000"/>
            </a:avLst>
          </a:prstGeom>
          <a:solidFill>
            <a:srgbClr val="D6EBE9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0" y="4507992"/>
            <a:ext cx="3246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CGA 场景表示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4837176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图元场景图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0" y="4434840"/>
            <a:ext cx="3520440" cy="896112"/>
          </a:xfrm>
          <a:prstGeom prst="roundRect">
            <a:avLst>
              <a:gd name="adj" fmla="val 16000"/>
            </a:avLst>
          </a:prstGeom>
          <a:solidFill>
            <a:srgbClr val="D6EBE9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60" y="4507992"/>
            <a:ext cx="3246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双目几何 / 前景权重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4837176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立体锚点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57784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C78A22"/>
                </a:solidFill>
                <a:latin typeface="Noto Sans CJK SC"/>
                <a:ea typeface="Noto Sans CJK SC"/>
                <a:cs typeface="Noto Sans CJK SC"/>
              </a:rPr>
              <a:t>我的判断:  </a:t>
            </a:r>
            <a:r>
              <a:rPr sz="1500" b="0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失败的只是「聚类 + 手工先验」的显式推理层; 前端谱表示(Gabor→Riesz)与几何表示是正确资产。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6455664"/>
            <a:ext cx="11277295" cy="10972"/>
          </a:xfrm>
          <a:prstGeom prst="rect">
            <a:avLst/>
          </a:prstGeom>
          <a:solidFill>
            <a:srgbClr val="DCE0E6"/>
          </a:solidFill>
          <a:ln w="12700"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528816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aaa43e0 (07-27) · 3a344b4 (08-02) · docs/architecture.md §2.1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32720" y="6528816"/>
            <a:ext cx="139903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28016" cy="74980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47472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F766E"/>
                </a:solidFill>
                <a:latin typeface="Noto Sans CJK SC"/>
                <a:ea typeface="Noto Sans CJK SC"/>
                <a:cs typeface="Noto Sans CJK SC"/>
              </a:rPr>
              <a:t>旧路线否决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03504"/>
            <a:ext cx="10789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失败证据 I: 我怎么判断这不是参数问题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61872"/>
            <a:ext cx="11247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aaa43e0 (DGGG/DG-MRF 数值)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3246120"/>
            <a:ext cx="6035040" cy="10972"/>
          </a:xfrm>
          <a:prstGeom prst="rect">
            <a:avLst/>
          </a:prstGeom>
          <a:solidFill>
            <a:srgbClr val="DCE0E6"/>
          </a:solidFill>
          <a:ln w="6350"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3154679"/>
            <a:ext cx="365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50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737360"/>
            <a:ext cx="6035040" cy="10972"/>
          </a:xfrm>
          <a:prstGeom prst="rect">
            <a:avLst/>
          </a:prstGeom>
          <a:solidFill>
            <a:srgbClr val="DCE0E6"/>
          </a:solidFill>
          <a:ln w="6350"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645919"/>
            <a:ext cx="365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28031"/>
            <a:ext cx="187451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quadrants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168865"/>
            <a:ext cx="566928" cy="2586014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949409"/>
            <a:ext cx="5669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85.7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26464" y="1945568"/>
            <a:ext cx="566928" cy="2809311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6464" y="1726112"/>
            <a:ext cx="5669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0F766E"/>
                </a:solidFill>
                <a:latin typeface="Noto Sans CJK SC"/>
                <a:ea typeface="Noto Sans CJK SC"/>
                <a:cs typeface="Noto Sans CJK SC"/>
              </a:rPr>
              <a:t>93.1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79" y="4828031"/>
            <a:ext cx="187451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orientation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06039" y="3122401"/>
            <a:ext cx="566928" cy="1632478"/>
          </a:xfrm>
          <a:prstGeom prst="rect">
            <a:avLst/>
          </a:prstGeom>
          <a:solidFill>
            <a:srgbClr val="D64550"/>
          </a:solidFill>
          <a:ln w="12700">
            <a:solidFill>
              <a:srgbClr val="1831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06039" y="2902945"/>
            <a:ext cx="5669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54.1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00984" y="1800727"/>
            <a:ext cx="566928" cy="2954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00984" y="1581271"/>
            <a:ext cx="5669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0F766E"/>
                </a:solidFill>
                <a:latin typeface="Noto Sans CJK SC"/>
                <a:ea typeface="Noto Sans CJK SC"/>
                <a:cs typeface="Noto Sans CJK SC"/>
              </a:rPr>
              <a:t>97.9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1999" y="4828031"/>
            <a:ext cx="187451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shaded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59" y="2377074"/>
            <a:ext cx="566928" cy="2377805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59" y="2157618"/>
            <a:ext cx="5669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78.8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75503" y="1924446"/>
            <a:ext cx="566928" cy="2830433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75503" y="1704990"/>
            <a:ext cx="5669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0F766E"/>
                </a:solidFill>
                <a:latin typeface="Noto Sans CJK SC"/>
                <a:ea typeface="Noto Sans CJK SC"/>
                <a:cs typeface="Noto Sans CJK SC"/>
              </a:rPr>
              <a:t>93.8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349240"/>
            <a:ext cx="219456" cy="219456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28" y="5349240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DGGG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60320" y="5349240"/>
            <a:ext cx="219456" cy="21945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52928" y="5349240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DG-MRF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49440" y="1737360"/>
            <a:ext cx="4754880" cy="384048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78040" y="1847088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D64550"/>
                </a:solidFill>
                <a:latin typeface="Noto Sans CJK SC"/>
                <a:ea typeface="Noto Sans CJK SC"/>
                <a:cs typeface="Noto Sans CJK SC"/>
              </a:rPr>
              <a:t>MRF 修精度, 但靠三参数标定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78040" y="2286000"/>
            <a:ext cx="4343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β</a:t>
            </a:r>
            <a:r>
              <a:rPr sz="1200" b="0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 邻域一致 = 多少 nat → 逐场景网格搜索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T</a:t>
            </a:r>
            <a:r>
              <a:rPr sz="1200" b="0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 softmax 温度 → 二分 ~100–200 步 × 6 轮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门控</a:t>
            </a:r>
            <a:r>
              <a:rPr sz="1200" b="0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 Pb&gt;0.5 两步后处理, 0.49/0.51 天差地别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8040" y="4434840"/>
            <a:ext cx="43434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D64550"/>
                </a:solidFill>
                <a:latin typeface="Noto Sans CJK SC"/>
                <a:ea typeface="Noto Sans CJK SC"/>
                <a:cs typeface="Noto Sans CJK SC"/>
              </a:rPr>
              <a:t>12 路改进全否决 </a:t>
            </a:r>
            <a:r>
              <a:rPr sz="1100" b="0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(HMRF-EM 61–66% · pyramid 87.2→48.5 · 显著性 53%)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我的判断: 不是参数没调好, 是手工先验本身不可标定。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6455664"/>
            <a:ext cx="11277295" cy="10972"/>
          </a:xfrm>
          <a:prstGeom prst="rect">
            <a:avLst/>
          </a:prstGeom>
          <a:solidFill>
            <a:srgbClr val="DCE0E6"/>
          </a:solidFill>
          <a:ln w="12700"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528816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aaa43e0 · DGGG: orientation 54.1 / shaded 78.8 · DG-MRF: orientation 97.9 / shaded 93.8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20" y="6528816"/>
            <a:ext cx="139903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28016" cy="74980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47472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F766E"/>
                </a:solidFill>
                <a:latin typeface="Noto Sans CJK SC"/>
                <a:ea typeface="Noto Sans CJK SC"/>
                <a:cs typeface="Noto Sans CJK SC"/>
              </a:rPr>
              <a:t>旧路线否决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03504"/>
            <a:ext cx="10789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失败证据 II: 我为什么转向(拓扑白卷)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61872"/>
            <a:ext cx="11247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aaa43e0 · fffc06a · 05ac7f0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10972800" cy="1298448"/>
          </a:xfrm>
          <a:prstGeom prst="roundRect">
            <a:avLst>
              <a:gd name="adj" fmla="val 5000"/>
            </a:avLst>
          </a:prstGeom>
          <a:solidFill>
            <a:srgbClr val="F6DD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128016" cy="1298448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19656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D64550"/>
                </a:solidFill>
                <a:latin typeface="Noto Sans CJK SC"/>
                <a:ea typeface="Noto Sans CJK SC"/>
                <a:cs typeface="Noto Sans CJK SC"/>
              </a:rPr>
              <a:t>信号流拓扑错误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聚类占 640×480 热帧 37% / 2.5s, 但软隶属度 Q 不流入深度 —— 输出对深度精度贡献为零。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0" y="2148840"/>
            <a:ext cx="2468880" cy="402336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0" y="2148840"/>
            <a:ext cx="24688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拓扑错误, 不是性能问题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606040"/>
            <a:ext cx="2468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aaa43e0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72968"/>
            <a:ext cx="10972800" cy="1298448"/>
          </a:xfrm>
          <a:prstGeom prst="roundRect">
            <a:avLst>
              <a:gd name="adj" fmla="val 5000"/>
            </a:avLst>
          </a:prstGeom>
          <a:solidFill>
            <a:srgbClr val="F6DD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172968"/>
            <a:ext cx="128016" cy="1298448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300984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D64550"/>
                </a:solidFill>
                <a:latin typeface="Noto Sans CJK SC"/>
                <a:ea typeface="Noto Sans CJK SC"/>
                <a:cs typeface="Noto Sans CJK SC"/>
              </a:rPr>
              <a:t>单目深度白卷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721608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iBims / NYU 室内: Spearman ≈ 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0" y="3630168"/>
            <a:ext cx="2468880" cy="402336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0" y="3630168"/>
            <a:ext cx="24688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单目线索域内失败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4087368"/>
            <a:ext cx="2468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fffc06a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654296"/>
            <a:ext cx="10972800" cy="1298448"/>
          </a:xfrm>
          <a:prstGeom prst="roundRect">
            <a:avLst>
              <a:gd name="adj" fmla="val 5000"/>
            </a:avLst>
          </a:prstGeom>
          <a:solidFill>
            <a:srgbClr val="F6DD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654296"/>
            <a:ext cx="128016" cy="1298448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78231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D64550"/>
                </a:solidFill>
                <a:latin typeface="Noto Sans CJK SC"/>
                <a:ea typeface="Noto Sans CJK SC"/>
                <a:cs typeface="Noto Sans CJK SC"/>
              </a:rPr>
              <a:t>遮挡序白卷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202936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iBims 序正确率 0.444 ≈ 随机; 修正后 0.419; T 结假阳性 76%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69680" y="5111496"/>
            <a:ext cx="2468880" cy="402336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0" y="5111496"/>
            <a:ext cx="24688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序数约束不成立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5568696"/>
            <a:ext cx="2468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05ac7f0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我的判断: 手工先验/显式推理层产出与下游脱节 —— 这就是我转向「生成过程显式」的直接动因。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6455664"/>
            <a:ext cx="11277295" cy="10972"/>
          </a:xfrm>
          <a:prstGeom prst="rect">
            <a:avLst/>
          </a:prstGeom>
          <a:solidFill>
            <a:srgbClr val="DCE0E6"/>
          </a:solidFill>
          <a:ln w="12700"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528816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aaa43e0 (37%/2.5s) · fffc06a (Spearman≈0) · 05ac7f0 (0.444→0.419 / T结 76%)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2720" y="6528816"/>
            <a:ext cx="139903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28016" cy="74980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47472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F766E"/>
                </a:solidFill>
                <a:latin typeface="Noto Sans CJK SC"/>
                <a:ea typeface="Noto Sans CJK SC"/>
                <a:cs typeface="Noto Sans CJK SC"/>
              </a:rPr>
              <a:t>SPN 分支验证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03504"/>
            <a:ext cx="10789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我的决定性实验: SPN 场景码 0.970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61872"/>
            <a:ext cx="11247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97c33d6 (08-11)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4937760" cy="3017520"/>
          </a:xfrm>
          <a:prstGeom prst="roundRect">
            <a:avLst>
              <a:gd name="adj" fmla="val 8000"/>
            </a:avLst>
          </a:prstGeom>
          <a:solidFill>
            <a:srgbClr val="1831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F766E"/>
                </a:solidFill>
                <a:latin typeface="Noto Sans CJK SC"/>
                <a:ea typeface="Noto Sans CJK SC"/>
                <a:cs typeface="Noto Sans CJK SC"/>
              </a:rPr>
              <a:t>场景码整体准确率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5176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2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0.970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95020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N=2000 · 288 码 = kind3 × 8×6 网格 × 2 尺寸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枚举后验 argmax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828800"/>
            <a:ext cx="5303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各因子准确率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194560"/>
            <a:ext cx="1207008" cy="914400"/>
          </a:xfrm>
          <a:prstGeom prst="roundRect">
            <a:avLst>
              <a:gd name="adj" fmla="val 12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2304288"/>
            <a:ext cx="1207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kind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606040"/>
            <a:ext cx="120700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F766E"/>
                </a:solidFill>
                <a:latin typeface="Noto Sans CJK SC"/>
                <a:ea typeface="Noto Sans CJK SC"/>
                <a:cs typeface="Noto Sans CJK SC"/>
              </a:rPr>
              <a:t>1.0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2194560"/>
            <a:ext cx="1207008" cy="914400"/>
          </a:xfrm>
          <a:prstGeom prst="roundRect">
            <a:avLst>
              <a:gd name="adj" fmla="val 12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79" y="2304288"/>
            <a:ext cx="1207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gx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2606040"/>
            <a:ext cx="120700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F766E"/>
                </a:solidFill>
                <a:latin typeface="Noto Sans CJK SC"/>
                <a:ea typeface="Noto Sans CJK SC"/>
                <a:cs typeface="Noto Sans CJK SC"/>
              </a:rPr>
              <a:t>0.99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0" y="2194560"/>
            <a:ext cx="1207008" cy="914400"/>
          </a:xfrm>
          <a:prstGeom prst="roundRect">
            <a:avLst>
              <a:gd name="adj" fmla="val 12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0" y="2304288"/>
            <a:ext cx="1207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606040"/>
            <a:ext cx="120700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F766E"/>
                </a:solidFill>
                <a:latin typeface="Noto Sans CJK SC"/>
                <a:ea typeface="Noto Sans CJK SC"/>
                <a:cs typeface="Noto Sans CJK SC"/>
              </a:rPr>
              <a:t>0.98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41280" y="2194560"/>
            <a:ext cx="1207008" cy="914400"/>
          </a:xfrm>
          <a:prstGeom prst="roundRect">
            <a:avLst>
              <a:gd name="adj" fmla="val 12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0" y="2304288"/>
            <a:ext cx="1207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size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2606040"/>
            <a:ext cx="120700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F766E"/>
                </a:solidFill>
                <a:latin typeface="Noto Sans CJK SC"/>
                <a:ea typeface="Noto Sans CJK SC"/>
                <a:cs typeface="Noto Sans CJK SC"/>
              </a:rPr>
              <a:t>1.0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3429000"/>
            <a:ext cx="5486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我看到:  </a:t>
            </a:r>
            <a:r>
              <a:rPr sz="1450" b="0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「渲染 → 特征 → 生成模型后验」能端到端反推场景因子。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0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于是我认定: 生成模型后验方向可行, SPN 成为主线候选。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6455664"/>
            <a:ext cx="11277295" cy="10972"/>
          </a:xfrm>
          <a:prstGeom prst="rect">
            <a:avLst/>
          </a:prstGeom>
          <a:solidFill>
            <a:srgbClr val="DCE0E6"/>
          </a:solidFill>
          <a:ln w="12700"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528816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97c33d6: N=2000 码 0.970 / kind 1.0 / gx 0.99 / gy 0.98 / size 1.0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6528816"/>
            <a:ext cx="139903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28016" cy="74980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47472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F766E"/>
                </a:solidFill>
                <a:latin typeface="Noto Sans CJK SC"/>
                <a:ea typeface="Noto Sans CJK SC"/>
                <a:cs typeface="Noto Sans CJK SC"/>
              </a:rPr>
              <a:t>两次退役之一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03504"/>
            <a:ext cx="10789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我为什么退役离散码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61872"/>
            <a:ext cx="11247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523b97a (08-13) · docs/architecture.md §0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20640" cy="310896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连续化验证 (N=4000, K=64)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40"/>
            <a:ext cx="475488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F766E"/>
                </a:solidFill>
                <a:latin typeface="Noto Sans CJK SC"/>
                <a:ea typeface="Noto Sans CJK SC"/>
                <a:cs typeface="Noto Sans CJK SC"/>
              </a:rPr>
              <a:t>kind 0.897</a:t>
            </a:r>
            <a:r>
              <a:rPr sz="120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   白化 1-NN 上限 0.94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u,v RMSE 6.6px · R²≈0.90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s R² 0.17 · z R² 0.44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s/z 弱是物理: 单目单帧仅乘积可观测(熟悉尺寸歧义)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737360"/>
            <a:ext cx="5486400" cy="3108960"/>
          </a:xfrm>
          <a:prstGeom prst="roundRect">
            <a:avLst>
              <a:gd name="adj" fmla="val 6000"/>
            </a:avLst>
          </a:prstGeom>
          <a:solidFill>
            <a:srgbClr val="F6DDDF"/>
          </a:solidFill>
          <a:ln w="12700">
            <a:solidFill>
              <a:srgbClr val="D6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92024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D64550"/>
                </a:solidFill>
                <a:latin typeface="Noto Sans CJK SC"/>
                <a:ea typeface="Noto Sans CJK SC"/>
                <a:cs typeface="Noto Sans CJK SC"/>
              </a:rPr>
              <a:t>我的理由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377440"/>
            <a:ext cx="50292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离散场景码体系(逐码贝叶斯 / 池化 SPN / 码网格)整体退役。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连续物理量的离散化, 只是后验求积 —— 离散化本身不带来任何信息增益。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1206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后续:  </a:t>
            </a:r>
            <a:r>
              <a:rPr sz="1400" b="0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tied 方差/收缩已在连续化初版稳定似然; 实例级则在下一步「退役质心」时登场。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55664"/>
            <a:ext cx="11277295" cy="10972"/>
          </a:xfrm>
          <a:prstGeom prst="rect">
            <a:avLst/>
          </a:prstGeom>
          <a:solidFill>
            <a:srgbClr val="DCE0E6"/>
          </a:solidFill>
          <a:ln w="12700"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528816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523b97a: N=4000 K=64 · kind 0.897 / u,v RMSE 6.6px / s 0.17 / z 0.44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6528816"/>
            <a:ext cx="139903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28016" cy="74980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47472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F766E"/>
                </a:solidFill>
                <a:latin typeface="Noto Sans CJK SC"/>
                <a:ea typeface="Noto Sans CJK SC"/>
                <a:cs typeface="Noto Sans CJK SC"/>
              </a:rPr>
              <a:t>两次退役之二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03504"/>
            <a:ext cx="10789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我为什么退役 EM / 质心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61872"/>
            <a:ext cx="11247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54cd2d1 · docs/architecture.md §2.2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20640" cy="2011680"/>
          </a:xfrm>
          <a:prstGeom prst="roundRect">
            <a:avLst>
              <a:gd name="adj" fmla="val 6000"/>
            </a:avLst>
          </a:prstGeom>
          <a:solidFill>
            <a:srgbClr val="F6DDDF"/>
          </a:solidFill>
          <a:ln w="12700">
            <a:solidFill>
              <a:srgbClr val="D6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4572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D64550"/>
                </a:solidFill>
                <a:latin typeface="Noto Sans CJK SC"/>
                <a:ea typeface="Noto Sans CJK SC"/>
                <a:cs typeface="Noto Sans CJK SC"/>
              </a:rPr>
              <a:t>EM / 质心压缩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D64550"/>
                </a:solidFill>
                <a:latin typeface="Noto Sans CJK SC"/>
                <a:ea typeface="Noto Sans CJK SC"/>
                <a:cs typeface="Noto Sans CJK SC"/>
              </a:rPr>
              <a:t>u R² 0.50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0896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小数据 + 弯曲流形: 质心把点平均到流形外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897880" y="2468880"/>
            <a:ext cx="640080" cy="365760"/>
          </a:xfrm>
          <a:prstGeom prst="rightArrow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0" y="1737360"/>
            <a:ext cx="5029200" cy="2011680"/>
          </a:xfrm>
          <a:prstGeom prst="roundRect">
            <a:avLst>
              <a:gd name="adj" fmla="val 6000"/>
            </a:avLst>
          </a:prstGeom>
          <a:solidFill>
            <a:srgbClr val="D6EBE9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1874519"/>
            <a:ext cx="4572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F766E"/>
                </a:solidFill>
                <a:latin typeface="Noto Sans CJK SC"/>
                <a:ea typeface="Noto Sans CJK SC"/>
                <a:cs typeface="Noto Sans CJK SC"/>
              </a:rPr>
              <a:t>实例级 (K=N, 无 EM)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2286000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F766E"/>
                </a:solidFill>
                <a:latin typeface="Noto Sans CJK SC"/>
                <a:ea typeface="Noto Sans CJK SC"/>
                <a:cs typeface="Noto Sans CJK SC"/>
              </a:rPr>
              <a:t>u R² ≈0.90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310896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全量 1296: u/v R²≈0.93 · RMSE 5.4/5.2px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977639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EM 五条退化通道 (§2.2)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15968"/>
            <a:ext cx="2139696" cy="123444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434840"/>
            <a:ext cx="1920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目标 razor 门控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773168"/>
            <a:ext cx="1920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winner-take-all E 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71215" y="4315968"/>
            <a:ext cx="2139696" cy="123444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80944" y="4434840"/>
            <a:ext cx="1920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死分量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80944" y="4773168"/>
            <a:ext cx="1920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均值爆炸 90×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02352" y="4315968"/>
            <a:ext cx="2139696" cy="123444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0" y="4434840"/>
            <a:ext cx="1920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方差无上限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4773168"/>
            <a:ext cx="1920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只活 19/216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33488" y="4315968"/>
            <a:ext cx="2139696" cy="123444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43215" y="4434840"/>
            <a:ext cx="1920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权重死亡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3215" y="4773168"/>
            <a:ext cx="1920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log_w ≈ −20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64624" y="4315968"/>
            <a:ext cx="2139696" cy="123444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74351" y="4434840"/>
            <a:ext cx="1920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nk≈3 方差噪声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74351" y="4773168"/>
            <a:ext cx="1920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±115 nats 淹没距离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7607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C78A22"/>
                </a:solidFill>
                <a:latin typeface="Noto Sans CJK SC"/>
                <a:ea typeface="Noto Sans CJK SC"/>
                <a:cs typeface="Noto Sans CJK SC"/>
              </a:rPr>
              <a:t>我的教训:  </a:t>
            </a:r>
            <a:r>
              <a:rPr sz="1450" b="0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EM/质心压缩是大数据优化; 数据均匀采样 ⟹ 均匀权重才是正确先验(学权重反而死亡螺旋)。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6455664"/>
            <a:ext cx="11277295" cy="10972"/>
          </a:xfrm>
          <a:prstGeom prst="rect">
            <a:avLst/>
          </a:prstGeom>
          <a:solidFill>
            <a:srgbClr val="DCE0E6"/>
          </a:solidFill>
          <a:ln w="12700"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528816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54cd2d1 · §2.2 (u≈0.90; 全量 u/v≈0.93)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20" y="6528816"/>
            <a:ext cx="139903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28016" cy="74980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47472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F766E"/>
                </a:solidFill>
                <a:latin typeface="Noto Sans CJK SC"/>
                <a:ea typeface="Noto Sans CJK SC"/>
                <a:cs typeface="Noto Sans CJK SC"/>
              </a:rPr>
              <a:t>当前架构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03504"/>
            <a:ext cx="10789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我现在把显式性放在哪里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61872"/>
            <a:ext cx="11247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docs/architecture.md §2.1 · §1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kind 判别修复链(逐版实测)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2066543" cy="1188720"/>
          </a:xfrm>
          <a:prstGeom prst="roundRect">
            <a:avLst>
              <a:gd name="adj" fmla="val 12000"/>
            </a:avLst>
          </a:prstGeom>
          <a:solidFill>
            <a:srgbClr val="F6DD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206654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0.47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1" y="2395728"/>
            <a:ext cx="192024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无约束 EM 按位置聚类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715768" y="2286000"/>
            <a:ext cx="155448" cy="237744"/>
          </a:xfrm>
          <a:prstGeom prst="rightArrow">
            <a:avLst/>
          </a:prstGeom>
          <a:solidFill>
            <a:srgbClr val="697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89504" y="1874519"/>
            <a:ext cx="2066543" cy="1188720"/>
          </a:xfrm>
          <a:prstGeom prst="roundRect">
            <a:avLst>
              <a:gd name="adj" fmla="val 12000"/>
            </a:avLst>
          </a:prstGeom>
          <a:solidFill>
            <a:srgbClr val="F6DD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9504" y="1965960"/>
            <a:ext cx="206654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0.47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62656" y="2395728"/>
            <a:ext cx="192024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逐 kind 分层拟合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965192" y="2286000"/>
            <a:ext cx="155448" cy="237744"/>
          </a:xfrm>
          <a:prstGeom prst="rightArrow">
            <a:avLst/>
          </a:prstGeom>
          <a:solidFill>
            <a:srgbClr val="697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38928" y="1874519"/>
            <a:ext cx="2066543" cy="1188720"/>
          </a:xfrm>
          <a:prstGeom prst="roundRect">
            <a:avLst>
              <a:gd name="adj" fmla="val 12000"/>
            </a:avLst>
          </a:prstGeom>
          <a:solidFill>
            <a:srgbClr val="F6DD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38928" y="1965960"/>
            <a:ext cx="206654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0.47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2395728"/>
            <a:ext cx="192024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色度关 gc + 原始拮抗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214616" y="2286000"/>
            <a:ext cx="155448" cy="237744"/>
          </a:xfrm>
          <a:prstGeom prst="rightArrow">
            <a:avLst/>
          </a:prstGeom>
          <a:solidFill>
            <a:srgbClr val="697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88352" y="1874519"/>
            <a:ext cx="2066543" cy="1188720"/>
          </a:xfrm>
          <a:prstGeom prst="roundRect">
            <a:avLst>
              <a:gd name="adj" fmla="val 12000"/>
            </a:avLst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88352" y="1965960"/>
            <a:ext cx="206654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0.68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61504" y="2395728"/>
            <a:ext cx="192024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PCA 白化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464040" y="2286000"/>
            <a:ext cx="155448" cy="237744"/>
          </a:xfrm>
          <a:prstGeom prst="rightArrow">
            <a:avLst/>
          </a:prstGeom>
          <a:solidFill>
            <a:srgbClr val="697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37776" y="1874519"/>
            <a:ext cx="2066543" cy="1188720"/>
          </a:xfrm>
          <a:prstGeom prst="roundRect">
            <a:avLst>
              <a:gd name="adj" fmla="val 12000"/>
            </a:avLst>
          </a:prstGeom>
          <a:solidFill>
            <a:srgbClr val="D6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37776" y="1965960"/>
            <a:ext cx="206654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0928" y="2395728"/>
            <a:ext cx="192024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方差收缩 → 实例级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383280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实例级组装(无 EM)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3703320"/>
            <a:ext cx="2651760" cy="1051560"/>
          </a:xfrm>
          <a:prstGeom prst="roundRect">
            <a:avLst>
              <a:gd name="adj" fmla="val 10000"/>
            </a:avLst>
          </a:prstGeom>
          <a:solidFill>
            <a:srgbClr val="DDE6F0"/>
          </a:solidFill>
          <a:ln w="952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3803904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逐 kind 分层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133087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P(kind)·P(f,t|kind)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74720" y="3703320"/>
            <a:ext cx="2651760" cy="1051560"/>
          </a:xfrm>
          <a:prstGeom prst="roundRect">
            <a:avLst>
              <a:gd name="adj" fmla="val 10000"/>
            </a:avLst>
          </a:prstGeom>
          <a:solidFill>
            <a:srgbClr val="DDE6F0"/>
          </a:solidFill>
          <a:ln w="952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11879" y="3803904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K=N 实例块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1879" y="4133087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每样本一分量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3703320"/>
            <a:ext cx="2651760" cy="1051560"/>
          </a:xfrm>
          <a:prstGeom prst="roundRect">
            <a:avLst>
              <a:gd name="adj" fmla="val 10000"/>
            </a:avLst>
          </a:prstGeom>
          <a:solidFill>
            <a:srgbClr val="DDE6F0"/>
          </a:solidFill>
          <a:ln w="952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3803904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类内 tied 方差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4133087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抑制 nk≈3 噪声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0" y="3703320"/>
            <a:ext cx="2651760" cy="1051560"/>
          </a:xfrm>
          <a:prstGeom prst="roundRect">
            <a:avLst>
              <a:gd name="adj" fmla="val 10000"/>
            </a:avLst>
          </a:prstGeom>
          <a:solidFill>
            <a:srgbClr val="DDE6F0"/>
          </a:solidFill>
          <a:ln w="952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81160" y="3803904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均匀权重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81160" y="4133087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数据均匀采样的先验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4956048"/>
            <a:ext cx="10972800" cy="128016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" y="5065776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我的显式 = 生成过程 + 结构契约;  其余(统计规律·歧义)全进后验。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预测语义: 连续条件期望 E[u,v,s−ŝ,z−ẑ|x] ≡ 分层核回归; 离散因子 P(kind,hue,lcol,ldir|x) = 后验分类。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白化使对角高斯 ≡ 原空间全协方差 —— 解决「相邻像素强相关 → 对角高斯重复计票」。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6455664"/>
            <a:ext cx="11277295" cy="10972"/>
          </a:xfrm>
          <a:prstGeom prst="rect">
            <a:avLst/>
          </a:prstGeom>
          <a:solidFill>
            <a:srgbClr val="DCE0E6"/>
          </a:solidFill>
          <a:ln w="12700"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6528816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docs/architecture.md §2.1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2720" y="6528816"/>
            <a:ext cx="139903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28016" cy="74980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47472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F766E"/>
                </a:solidFill>
                <a:latin typeface="Noto Sans CJK SC"/>
                <a:ea typeface="Noto Sans CJK SC"/>
                <a:cs typeface="Noto Sans CJK SC"/>
              </a:rPr>
              <a:t>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03504"/>
            <a:ext cx="10789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当前基准: 插值 / 外推 (N=1296, kind_topk=3)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61872"/>
            <a:ext cx="11247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docs/architecture.md §1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5486400" cy="256032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55648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插值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2140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u / v  R²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121408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0.930 / 0.945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23744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s  R²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523744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0.508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2607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z  R²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926079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0.831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328415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kind / hue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328415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0.753 / 1.000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3075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lcol / ldir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730752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0.994 / 0.895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645920"/>
            <a:ext cx="5212080" cy="256032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1755648"/>
            <a:ext cx="4754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外推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12140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u / v  R²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121408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0.949 / 0.953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523744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s / z  R²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2523744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0.922 / 0.956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92607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kind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2926079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0.617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328415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hue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3328415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0.981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73075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lcol / ldir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3730752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0.880 / 0.772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370832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D6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4370832"/>
            <a:ext cx="10515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766E"/>
                </a:solidFill>
                <a:latin typeface="Noto Sans CJK SC"/>
                <a:ea typeface="Noto Sans CJK SC"/>
                <a:cs typeface="Noto Sans CJK SC"/>
              </a:rPr>
              <a:t>渲染残差精炼:  </a:t>
            </a:r>
            <a:r>
              <a:rPr sz="1350" b="1" i="0">
                <a:solidFill>
                  <a:srgbClr val="D64550"/>
                </a:solidFill>
                <a:latin typeface="Noto Sans CJK SC"/>
                <a:ea typeface="Noto Sans CJK SC"/>
                <a:cs typeface="Noto Sans CJK SC"/>
              </a:rPr>
              <a:t>lcol/ldir  0.457/0.367</a:t>
            </a:r>
            <a:r>
              <a:rPr sz="1350" b="1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  →  </a:t>
            </a:r>
            <a:r>
              <a:rPr sz="1350" b="1" i="0">
                <a:solidFill>
                  <a:srgbClr val="0F766E"/>
                </a:solidFill>
                <a:latin typeface="Noto Sans CJK SC"/>
                <a:ea typeface="Noto Sans CJK SC"/>
                <a:cs typeface="Noto Sans CJK SC"/>
              </a:rPr>
              <a:t>0.994/0.895</a:t>
            </a:r>
            <a:r>
              <a:rPr sz="120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   候选重渲染交回反照率×光照歧义</a:t>
            </a:r>
          </a:p>
        </p:txBody>
      </p:sp>
      <p:pic>
        <p:nvPicPr>
          <p:cNvPr id="32" name="Picture 31" descr="invers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230368"/>
            <a:ext cx="977265" cy="86868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2148840" y="5303520"/>
            <a:ext cx="38404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外推 / 插值 u,v 散点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inverse_scatter.png</a:t>
            </a:r>
          </a:p>
        </p:txBody>
      </p:sp>
      <p:pic>
        <p:nvPicPr>
          <p:cNvPr id="34" name="Picture 33" descr="inverse_re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5230368"/>
            <a:ext cx="556846" cy="86868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498079" y="5303520"/>
            <a:ext cx="3931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重建样例 cga.Scene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inverse_recon.png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6455664"/>
            <a:ext cx="11277295" cy="10972"/>
          </a:xfrm>
          <a:prstGeom prst="rect">
            <a:avLst/>
          </a:prstGeom>
          <a:solidFill>
            <a:srgbClr val="DCE0E6"/>
          </a:solidFill>
          <a:ln w="12700"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528816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docs/architecture.md §1 · 精炼前 lcol/ldir 0.457/0.367 → 0.994/0.895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32720" y="6528816"/>
            <a:ext cx="139903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28016" cy="74980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47472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F766E"/>
                </a:solidFill>
                <a:latin typeface="Noto Sans CJK SC"/>
                <a:ea typeface="Noto Sans CJK SC"/>
                <a:cs typeface="Noto Sans CJK SC"/>
              </a:rPr>
              <a:t>近期研究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03504"/>
            <a:ext cx="10789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方法论回声: 我再次验证纹理 / roughness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61872"/>
            <a:ext cx="11247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docs/architecture.md §2.3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5486400" cy="237744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10512"/>
            <a:ext cx="5029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11 张图不是正交轴, 而是同一 p_s 的聚合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51206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0F766E"/>
                </a:solidFill>
                <a:latin typeface="Noto Sans CJK SC"/>
                <a:ea typeface="Noto Sans CJK SC"/>
                <a:cs typeface="Noto Sans CJK SC"/>
              </a:rPr>
              <a:t>p_s = e_s / Σe  </a:t>
            </a:r>
            <a:r>
              <a:rPr sz="120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逐像素尺度能量分布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真正分界: </a:t>
            </a:r>
            <a:r>
              <a:rPr sz="130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能量(log_mag) vs 形状(slope/moments)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E7: log_mag 对比度 1.00 · slope/moments 对比度 0.00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slope 对 β 单调(粉 0.73 &lt; 白 1.25 &lt; 蓝 1.28)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91640"/>
            <a:ext cx="5212080" cy="237744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810512"/>
            <a:ext cx="4754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实测: 纹理类型 vs roughness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194560"/>
            <a:ext cx="48463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纹理类型 </a:t>
            </a:r>
            <a:r>
              <a:rPr sz="1300" b="1" i="0">
                <a:solidFill>
                  <a:srgbClr val="0F766E"/>
                </a:solidFill>
                <a:latin typeface="Noto Sans CJK SC"/>
                <a:ea typeface="Noto Sans CJK SC"/>
                <a:cs typeface="Noto Sans CJK SC"/>
              </a:rPr>
              <a:t>0.50 / 0.46 &gt; chance 0.33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roughness </a:t>
            </a:r>
            <a:r>
              <a:rPr sz="1300" b="0" i="0">
                <a:solidFill>
                  <a:srgbClr val="D64550"/>
                </a:solidFill>
                <a:latin typeface="Noto Sans CJK SC"/>
                <a:ea typeface="Noto Sans CJK SC"/>
                <a:cs typeface="Noto Sans CJK SC"/>
              </a:rPr>
              <a:t>二阶弱信号, 被纹理/外观/光照淹没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决策: 固定 roughness=0.55, 只保留纹理类型因子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343400"/>
            <a:ext cx="10972800" cy="1645920"/>
          </a:xfrm>
          <a:prstGeom prst="roundRect">
            <a:avLst>
              <a:gd name="adj" fmla="val 5000"/>
            </a:avLst>
          </a:prstGeom>
          <a:solidFill>
            <a:srgbClr val="F3E7D2"/>
          </a:solidFill>
          <a:ln w="12700">
            <a:solidFill>
              <a:srgbClr val="C78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48056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C78A22"/>
                </a:solidFill>
                <a:latin typeface="Noto Sans CJK SC"/>
                <a:ea typeface="Noto Sans CJK SC"/>
                <a:cs typeface="Noto Sans CJK SC"/>
              </a:rPr>
              <a:t>我再次验证:  </a:t>
            </a:r>
            <a:r>
              <a:rPr sz="1450" b="0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「实测驱动、诚实否决」—— 固定几何探针的乐观(tex 1.00 / roughness 0.997)被主线全变实测修正(0.50 / 负 R²)。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特征只暴露数据里的方差, 顺序不可倒: 先给 Codebook 接线自由度, 再立监督目标。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455664"/>
            <a:ext cx="11277295" cy="10972"/>
          </a:xfrm>
          <a:prstGeom prst="rect">
            <a:avLst/>
          </a:prstGeom>
          <a:solidFill>
            <a:srgbClr val="DCE0E6"/>
          </a:solidFill>
          <a:ln w="12700"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28816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docs/architecture.md §2.3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6528816"/>
            <a:ext cx="139903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28016" cy="74980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47472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F766E"/>
                </a:solidFill>
                <a:latin typeface="Noto Sans CJK SC"/>
                <a:ea typeface="Noto Sans CJK SC"/>
                <a:cs typeface="Noto Sans CJK SC"/>
              </a:rPr>
              <a:t>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03504"/>
            <a:ext cx="10789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复盘: 我带走的三条原则与下一步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61872"/>
            <a:ext cx="11247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docs/architecture.md §7 · §0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109728" cy="1371600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10512"/>
            <a:ext cx="3108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D64550"/>
                </a:solidFill>
                <a:latin typeface="Noto Sans CJK SC"/>
                <a:ea typeface="Noto Sans CJK SC"/>
                <a:cs typeface="Noto Sans CJK SC"/>
              </a:rPr>
              <a:t>失败要可证伪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57984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每个机制给出可测反例, 否决靠数据不靠直觉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9164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691640"/>
            <a:ext cx="109728" cy="1371600"/>
          </a:xfrm>
          <a:prstGeom prst="rect">
            <a:avLst/>
          </a:prstGeom>
          <a:solidFill>
            <a:srgbClr val="C78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810512"/>
            <a:ext cx="3108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C78A22"/>
                </a:solidFill>
                <a:latin typeface="Noto Sans CJK SC"/>
                <a:ea typeface="Noto Sans CJK SC"/>
                <a:cs typeface="Noto Sans CJK SC"/>
              </a:rPr>
              <a:t>保留有效先验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157984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信号前端/几何表示留下, 只废掉手工推理层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59" y="169164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59" y="1691640"/>
            <a:ext cx="109728" cy="13716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59" y="1810512"/>
            <a:ext cx="3108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F766E"/>
                </a:solidFill>
                <a:latin typeface="Noto Sans CJK SC"/>
                <a:ea typeface="Noto Sans CJK SC"/>
                <a:cs typeface="Noto Sans CJK SC"/>
              </a:rPr>
              <a:t>不确定性统一进后验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59" y="2157984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83153"/>
                </a:solidFill>
                <a:latin typeface="Noto Sans CJK SC"/>
                <a:ea typeface="Noto Sans CJK SC"/>
                <a:cs typeface="Noto Sans CJK SC"/>
              </a:rPr>
              <a:t>硬约束进支持集 · 歧义进候选后验, 不做过早 argmax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383280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核心结论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703320"/>
            <a:ext cx="10972800" cy="1234440"/>
          </a:xfrm>
          <a:prstGeom prst="roundRect">
            <a:avLst>
              <a:gd name="adj" fmla="val 5000"/>
            </a:avLst>
          </a:prstGeom>
          <a:solidFill>
            <a:srgbClr val="1831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8404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我的复盘: 显式建模的正确粒度 = 生成过程, 而非推理模块。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C8D2E0"/>
                </a:solidFill>
                <a:latin typeface="Noto Sans CJK SC"/>
                <a:ea typeface="Noto Sans CJK SC"/>
                <a:cs typeface="Noto Sans CJK SC"/>
              </a:rPr>
              <a:t>小数据 + 弯曲流形 → 实例级(K=N, 无 EM); 数据均匀采样 → 均匀权重是正确先验。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166360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下一步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532120"/>
            <a:ext cx="2651760" cy="47548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532120"/>
            <a:ext cx="26517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双层渲染残差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74720" y="5532120"/>
            <a:ext cx="2651760" cy="47548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0" y="5532120"/>
            <a:ext cx="26517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池外光照探针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5532120"/>
            <a:ext cx="2651760" cy="47548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5532120"/>
            <a:ext cx="26517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逐 kind PPCA 似然比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0" y="5532120"/>
            <a:ext cx="2651760" cy="47548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0" y="5532120"/>
            <a:ext cx="26517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大数据逃生通道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6455664"/>
            <a:ext cx="11277295" cy="10972"/>
          </a:xfrm>
          <a:prstGeom prst="rect">
            <a:avLst/>
          </a:prstGeom>
          <a:solidFill>
            <a:srgbClr val="DCE0E6"/>
          </a:solidFill>
          <a:ln w="12700"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528816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docs/architecture.md §7 · §0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720" y="6528816"/>
            <a:ext cx="139903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